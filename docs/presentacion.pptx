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7132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A6670"/>
                </a:solidFill>
                <a:latin typeface="Consolas"/>
              </a:rPr>
              <a:t>PROYECTO 2 — GRUPO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0" i="0">
                <a:solidFill>
                  <a:srgbClr val="12181D"/>
                </a:solidFill>
                <a:latin typeface="Georgia"/>
              </a:rPr>
              <a:t>Sistema Hospitalario
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5A6670"/>
                </a:solidFill>
                <a:latin typeface="Calibri"/>
              </a:rPr>
              <a:t>Diez módulos clínicos y administrativos sobre PHP puro, MySQL y AJAX con jQuery — sin un solo framework de por medio.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92040"/>
            <a:ext cx="3008376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Stack · PHP 8 / MySQL / jQuery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3048" y="4892040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Tablas · 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3403" y="4892040"/>
            <a:ext cx="2918764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Módulos · 10 + administración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EL ENCARGO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2181D"/>
                </a:solidFill>
                <a:latin typeface="Georgia"/>
              </a:rPr>
              <a:t>Simular la operación real de un hospital, capa por capa.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8961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670"/>
                </a:solidFill>
                <a:latin typeface="Calibri"/>
              </a:rPr>
              <a:t>El enunciado pedía un sistema empresarial completo, no una maqueta: arquitectura por capas hecha a mano, base de datos normalizada de más de 55 tablas, y seguridad de nivel producción — sin Laravel, sin React, sin ningún andamiaje que hiciera el trabajo por nosotros.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470708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HTML · CSS · JS · jQuery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5380" y="3977639"/>
            <a:ext cx="1843430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PHP sin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3402" y="3977639"/>
            <a:ext cx="1664207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MySQL / MariaDB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2201" y="3977639"/>
            <a:ext cx="2112264" cy="310896"/>
          </a:xfrm>
          <a:prstGeom prst="roundRect">
            <a:avLst>
              <a:gd name="adj" fmla="val 50000"/>
            </a:avLst>
          </a:prstGeom>
          <a:solidFill>
            <a:srgbClr val="FB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C97A2B"/>
                </a:solidFill>
                <a:latin typeface="Consolas"/>
              </a:rPr>
              <a:t>Cero librerías de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0" i="0">
                <a:solidFill>
                  <a:srgbClr val="12181D"/>
                </a:solidFill>
                <a:latin typeface="Georgia"/>
              </a:rPr>
              <a:t>Router → Controller → Model, escrito a 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6090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E7C86"/>
                </a:solidFill>
                <a:latin typeface="Consolas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7180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2181D"/>
                </a:solidFill>
                <a:latin typeface="Georgia"/>
              </a:rPr>
              <a:t>jQuery / AJAX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280720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5A6670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1" y="25146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3" y="266090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E7C86"/>
                </a:solidFill>
                <a:latin typeface="Consolas"/>
              </a:rPr>
              <a:t>FRONT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3" y="297180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2181D"/>
                </a:solidFill>
                <a:latin typeface="Georgia"/>
              </a:rPr>
              <a:t>Router.php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0" y="280720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5A6670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1182" y="25146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4" y="266090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E7C86"/>
                </a:solidFill>
                <a:latin typeface="Consolas"/>
              </a:rPr>
              <a:t>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4" y="297180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2181D"/>
                </a:solidFill>
                <a:latin typeface="Georgia"/>
              </a:rPr>
              <a:t>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1" y="280720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5A6670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31733" y="25146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5" y="266090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E7C86"/>
                </a:solidFill>
                <a:latin typeface="Consolas"/>
              </a:rPr>
              <a:t>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5" y="297180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2181D"/>
                </a:solidFill>
                <a:latin typeface="Georgia"/>
              </a:rPr>
              <a:t>Models / PDO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2" y="280720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>
                <a:solidFill>
                  <a:srgbClr val="5A6670"/>
                </a:solidFill>
                <a:latin typeface="Consola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4" y="25146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76" y="266090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E7C86"/>
                </a:solidFill>
                <a:latin typeface="Consolas"/>
              </a:rPr>
              <a:t>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76" y="2971800"/>
            <a:ext cx="160019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2181D"/>
                </a:solidFill>
                <a:latin typeface="Georgia"/>
              </a:rP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670"/>
                </a:solidFill>
                <a:latin typeface="Calibri"/>
              </a:rPr>
              <a:t>Cada petición pasa por autenticación, autorización por rol, validación CSRF y auditoría antes de tocar la base de datos — en ese orden, siempre.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2181D"/>
                </a:solidFill>
                <a:latin typeface="Georgia"/>
              </a:rPr>
              <a:t>Normalizada, con reglas de negocio dentro del propio motor.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E7C86"/>
                </a:solidFill>
                <a:latin typeface="Georgia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tablas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E7C86"/>
                </a:solidFill>
                <a:latin typeface="Georg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vistas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E7C86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E7C86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procedimientos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0E7C86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funciones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33172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50424" y="2496312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0E7C86"/>
                </a:solidFill>
                <a:latin typeface="Georgia"/>
              </a:rPr>
              <a:t>1:1 · 1:N · N:M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0424" y="3246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0"/>
                </a:solidFill>
                <a:latin typeface="Calibri"/>
              </a:rPr>
              <a:t>relaciones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670"/>
                </a:solidFill>
                <a:latin typeface="Calibri"/>
              </a:rPr>
              <a:t>Ejemplo real: al registrar un ingreso hospitalario, un trigger cambia la cama a “ocupada” automáticamente — el alta la libera igual de automático, sin que el backend PHP tenga que saberlo.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COBERTURA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2181D"/>
                </a:solidFill>
                <a:latin typeface="Georgia"/>
              </a:rPr>
              <a:t>Diez módulos obligatorios, cada uno con CRUD vía AJAX.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41401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7004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Pacientes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2384" y="241401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67004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Consultas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860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241401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267004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Hospitalización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22860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4" y="241401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4" y="267004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Laboratorio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28600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0384" y="241401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267004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Farmacia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1129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767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Radiología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38328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384" y="351129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CLÍNICO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384" y="3767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Emergencias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338328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351129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ADMIN.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3767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Agenda médica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338328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4" y="351129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ADMIN.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4" y="3767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Facturación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338328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3511296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0E7C86"/>
                </a:solidFill>
                <a:latin typeface="Consolas"/>
              </a:rPr>
              <a:t>ADMIN.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3767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12181D"/>
                </a:solidFill>
                <a:latin typeface="Georgia"/>
              </a:rPr>
              <a:t>Inventario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LA INTERFAZ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2181D"/>
                </a:solidFill>
                <a:latin typeface="Georgia"/>
              </a:rPr>
              <a:t>Búsqueda, estados y acciones — sin recargar la página.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8686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5A6670"/>
                </a:solidFill>
                <a:latin typeface="Consolas"/>
              </a:rPr>
              <a:t>PACIENTE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4871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5A6670"/>
                </a:solidFill>
                <a:latin typeface="Consolas"/>
              </a:rPr>
              <a:t>CAMA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487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5A6670"/>
                </a:solidFill>
                <a:latin typeface="Consolas"/>
              </a:rPr>
              <a:t>MOTIVO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871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5A6670"/>
                </a:solidFill>
                <a:latin typeface="Consolas"/>
              </a:rPr>
              <a:t>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Rosa Hernández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803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101-A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880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Observación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52928"/>
            <a:ext cx="947318" cy="310896"/>
          </a:xfrm>
          <a:prstGeom prst="roundRect">
            <a:avLst>
              <a:gd name="adj" fmla="val 50000"/>
            </a:avLst>
          </a:prstGeom>
          <a:solidFill>
            <a:srgbClr val="FB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C97A2B"/>
                </a:solidFill>
                <a:latin typeface="Consolas"/>
              </a:rPr>
              <a:t>ocupada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Carmen Ortega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29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102-B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290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Postoperatorio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401568"/>
            <a:ext cx="947318" cy="310896"/>
          </a:xfrm>
          <a:prstGeom prst="roundRect">
            <a:avLst>
              <a:gd name="adj" fmla="val 50000"/>
            </a:avLst>
          </a:prstGeom>
          <a:solidFill>
            <a:srgbClr val="FB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C97A2B"/>
                </a:solidFill>
                <a:latin typeface="Consolas"/>
              </a:rPr>
              <a:t>ocupada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Miguel Castro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9776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102-A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977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181D"/>
                </a:solidFill>
                <a:latin typeface="Calibri"/>
              </a:rPr>
              <a:t>Chequeo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950208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E2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2E8B57"/>
                </a:solidFill>
                <a:latin typeface="Consolas"/>
              </a:rPr>
              <a:t>libre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A6670"/>
                </a:solidFill>
                <a:latin typeface="Calibri"/>
              </a:rPr>
              <a:t>Cada tabla del sistema soporta búsqueda en vivo; Pacientes, Personal y Agenda además paginan del lado del cliente.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2181D"/>
                </a:solidFill>
                <a:latin typeface="Georgia"/>
              </a:rPr>
              <a:t>Los puntos que pedía el enunciado, todos cubiertos.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743200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Contraseñas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86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bcrypt vía password_hash()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273552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8163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Sesiones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163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Nativas de PHP, cookie HttpOnly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03904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3467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CSRF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4670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Token por sesión en cada escritura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334256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8770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SQL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7705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100% sentencias preparadas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864608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4074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Fuerza bruta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0740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Bloqueo automático tras 5 intentos fallidos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5394960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937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Auditoría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377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Cada create/update/delete queda registrado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5925312"/>
            <a:ext cx="1088136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468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0E7C86"/>
                </a:solidFill>
                <a:latin typeface="Consolas"/>
              </a:rPr>
              <a:t>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6811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12181D"/>
                </a:solidFill>
                <a:latin typeface="Calibri"/>
              </a:rPr>
              <a:t>Menú y rutas bloqueadas según el rol de sesión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9120"/>
            <a:ext cx="256032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E7C86"/>
                </a:solidFill>
                <a:latin typeface="Consolas"/>
              </a:rPr>
              <a:t>DECISIONES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12181D"/>
                </a:solidFill>
                <a:latin typeface="Georgia"/>
              </a:rPr>
              <a:t>Solo dos dependencias externas, ambas de un solo propósito.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5A6670"/>
                </a:solidFill>
                <a:latin typeface="Consolas"/>
              </a:rPr>
              <a:t>PIEZA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5A6670"/>
                </a:solidFill>
                <a:latin typeface="Consolas"/>
              </a:rPr>
              <a:t>USO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624328"/>
            <a:ext cx="941832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E7C86"/>
                </a:solidFill>
                <a:latin typeface="Consolas"/>
              </a:rPr>
              <a:t>TCPDF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2181D"/>
                </a:solidFill>
                <a:latin typeface="Calibri"/>
              </a:rPr>
              <a:t>Generación de reportes en 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127248"/>
            <a:ext cx="941832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E7C86"/>
                </a:solidFill>
                <a:latin typeface="Consolas"/>
              </a:rPr>
              <a:t>PhpSpreadsheet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2181D"/>
                </a:solidFill>
                <a:latin typeface="Calibri"/>
              </a:rPr>
              <a:t>Generación de reportes en Excel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630168"/>
            <a:ext cx="941832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E7C86"/>
                </a:solidFill>
                <a:latin typeface="Consolas"/>
              </a:rPr>
              <a:t>Chart.js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03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2181D"/>
                </a:solidFill>
                <a:latin typeface="Calibri"/>
              </a:rPr>
              <a:t>Gráficas del dashboard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4133088"/>
            <a:ext cx="9418320" cy="0"/>
          </a:xfrm>
          <a:prstGeom prst="line">
            <a:avLst/>
          </a:prstGeom>
          <a:ln w="9525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E7C86"/>
                </a:solidFill>
                <a:latin typeface="Consolas"/>
              </a:rPr>
              <a:t>jQuery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12181D"/>
                </a:solidFill>
                <a:latin typeface="Calibri"/>
              </a:rPr>
              <a:t>AJAX y manipulación del 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A6670"/>
                </a:solidFill>
                <a:latin typeface="Calibri"/>
              </a:rPr>
              <a:t>Ninguna impone arquitectura, ORM ni enrutamiento — el Router, los Controllers y los Models son código propio.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0E7C86"/>
                </a:solidFill>
                <a:latin typeface="Consola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8036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400" b="0" i="0">
                <a:solidFill>
                  <a:srgbClr val="12181D"/>
                </a:solidFill>
                <a:latin typeface="Georgia"/>
              </a:rPr>
              <a:t>Gracias.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 i="0">
                <a:solidFill>
                  <a:srgbClr val="5A6670"/>
                </a:solidFill>
                <a:latin typeface="Calibri"/>
              </a:rPr>
              <a:t>Sistema Hospitalario Inteligente — Proyecto 2, Grupo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63440"/>
            <a:ext cx="1126540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67 tablas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89980" y="466344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10 módulos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89012" y="4663440"/>
            <a:ext cx="1395374" cy="310896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50" b="0">
                <a:solidFill>
                  <a:srgbClr val="0E7C86"/>
                </a:solidFill>
                <a:latin typeface="Consolas"/>
              </a:rPr>
              <a:t>0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alibri"/>
              </a:rPr>
              <a:t>Sistema Hospitalario Inteligente · Proyecto 2, Grupo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5A667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